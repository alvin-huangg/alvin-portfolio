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iPhone Assembly by Geography (2025)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iPhone Assembly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2563A8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China</c:v>
                </c:pt>
                <c:pt idx="1">
                  <c:v>India</c:v>
                </c:pt>
                <c:pt idx="2">
                  <c:v>Vietnam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88</c:v>
                </c:pt>
                <c:pt idx="1">
                  <c:v>7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Supplier Risk Score by Geography (1–5)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Risk Score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4785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China
(assembly)</c:v>
                  </c:pt>
                  <c:pt idx="1">
                    <c:v>Taiwan
(chips)</c:v>
                  </c:pt>
                  <c:pt idx="2">
                    <c:v>Vietnam</c:v>
                  </c:pt>
                  <c:pt idx="3">
                    <c:v>India</c:v>
                  </c:pt>
                  <c:pt idx="4">
                    <c:v>Mexico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4.8</c:v>
                </c:pt>
                <c:pt idx="2">
                  <c:v>1.8</c:v>
                </c:pt>
                <c:pt idx="3">
                  <c:v>2.2</c:v>
                </c:pt>
                <c:pt idx="4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Cumulative Cost Impact vs. Tariff Escalation ($B) — Scenarios 2025–2028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(no action)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1.2</c:v>
                </c:pt>
                <c:pt idx="2">
                  <c:v>3.8</c:v>
                </c:pt>
                <c:pt idx="3">
                  <c:v>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Scenario A (10% shift)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2.1</c:v>
                </c:pt>
                <c:pt idx="2">
                  <c:v>3.2</c:v>
                </c:pt>
                <c:pt idx="3">
                  <c:v>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Scenario B (20% shift)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1.2</c:v>
                </c:pt>
                <c:pt idx="1">
                  <c:v>3</c:v>
                </c:pt>
                <c:pt idx="2">
                  <c:v>4.8</c:v>
                </c:pt>
                <c:pt idx="3">
                  <c:v>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ADVISORY |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Inc.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Diversification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 2025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41148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Inc. Board of Directors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Strategy Group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41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key findings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2880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China dependency and its risks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862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Concentration, risk scoring, supplier mapping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904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22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Evaluated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Vietnam, Mexico — tradeoffs assessed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8686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86868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941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diversification strategy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82880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19019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execution plan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7889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78892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2862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 and scenario analysis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7490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749040"/>
            <a:ext cx="4572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31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3822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15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supply chain diversification via a phased 3-year shift — targeting 20% of iPhone assembly in India by 2027 — while investing in supplier ecosystem development to reduce unit cost premium from ~$12 to ~$6 per device.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7432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01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4.2/5.0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5054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concentration risk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691640"/>
            <a:ext cx="2743200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801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154680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Delta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25054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at 20% shift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91640"/>
            <a:ext cx="27432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801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2304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250545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exposure at 20% shift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2004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 of iPhone assembly concentrated in China — highest geopolitical risk of any Apple product line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policy escalation could cost Apple $8-12B annually if unmitigated; diversification payback within 4 years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only viable large-scale alternative; Vietnam capacity limited to non-iPhone products near-term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semiconductor dependency (TSMC) is a separate, higher-urgency risk requiring parallel action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77840" y="2788920"/>
            <a:ext cx="329184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3246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Commit to India Phase 1 investment ($2.1B capex, FY2025)
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Establish supplier development fund for Indian tier-2/3 ecosystem
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Accelerate TSMC Arizona ramp — seek anchor customer pricing
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board-level Supply Chain Risk Committee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Framing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supply chain is structurally exposed to three compounding risks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755648"/>
            <a:ext cx="11430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Policy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tariffs on Chinese electronics now at levels that compress iPhone margins by 2–4pp. Escalation scenarios modeled at up to $12B annual impact. No near-term resolution visible.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98448"/>
            <a:ext cx="2788920" cy="7315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716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755648"/>
            <a:ext cx="11430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8745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/ Semiconductor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487168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produces 100% of Apple's custom silicon. Cross-strait tensions at a decade high. Arizona fabs not at scale until 2027+. A Taiwan crisis = no iPhone production.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298448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98448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716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755648"/>
            <a:ext cx="11430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8745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Concentration Risk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487168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City (Zhengzhou) assembles &gt;50% of global iPhone output. One facility. COVID lockdowns in 2022 cost Apple ~$8B in delayed holiday revenue.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These risks are not independent — a Taiwan crisis triggers both semiconductor AND assembly disruption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Data Analysis — Manufacturing Concentration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777240"/>
          <a:ext cx="4297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 Import Trade Records (ImportYeti), Apple Supplier Responsibility Report 2025, analyst estimates. Risk scores are composite weighted averages across 5 dimensions.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Data Analysis — Supplier Risk Scorecard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scoring across five strategic dimensions — China scores 4.2/5.0, highest of any geography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200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1527048"/>
                <a:gridCol w="1527048"/>
                <a:gridCol w="15270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concentration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/ logistics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&amp; ops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= scores ≥ 4 flagged as high risk. Composite = weighted average. China ecosystem maturity (score 1) reflects deep tier-2/3 supplier networks built over 20 years.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Options Evaluated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geographies assessed for iPhone manufacturing diversification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161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084832"/>
            <a:ext cx="16916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45059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viable labor pool (1.4B)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PLI subsidies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 engineering talent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political relationship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547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8039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ecosystem 8–10 yrs behind China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constraints (power, ports)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+$9–14/unit cost premium initially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88720"/>
            <a:ext cx="278892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2161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6642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2084832"/>
            <a:ext cx="16916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45059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labor costs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Apple presence (AirPods, Watch)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Chinese suppliers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government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3547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38039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absorb iPhone complexity at scale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labor pool limits max capacity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Chinese components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188720"/>
            <a:ext cx="278892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2161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6642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675120" y="2084832"/>
            <a:ext cx="16916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36208" y="245059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USMCA tariff advantages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proximity (2-day shipping)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electronics ecosystem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trend momentum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36208" y="3547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6208" y="38039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ecosystem for Apple-grade mfg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labor cost premium vs. Asia
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high-precision assembly experience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Recommended Path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diversification — not a sudden shift — that builds ecosystem capability while reducing concentration risk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788920" cy="6400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$2.1B capex to India expansion (Foxconn + Tata facilities)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Apple Supplier Development Fund ($500M) to build tier-2/3 Indian ecosystem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10% iPhone assembly in India by end of 2026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TSMC Arizona anchor customer negotiations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572768"/>
            <a:ext cx="137160" cy="0"/>
          </a:xfrm>
          <a:prstGeom prst="line">
            <a:avLst/>
          </a:prstGeom>
          <a:noFill/>
          <a:ln w="2540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61872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61872"/>
            <a:ext cx="278892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98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5727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286000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India iPhone assembly to 20% of global volume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15–20 critical Indian tier-2 component suppliers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Vietnam non-iPhone capacity by 40%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Arizona Phase 1 fab online — initial A-series chip production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1572768"/>
            <a:ext cx="137160" cy="0"/>
          </a:xfrm>
          <a:prstGeom prst="line">
            <a:avLst/>
          </a:prstGeom>
          <a:noFill/>
          <a:ln w="25400">
            <a:solidFill>
              <a:srgbClr val="E85D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261872"/>
            <a:ext cx="2788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61872"/>
            <a:ext cx="2788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298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5727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2027–2028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286000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Mexico feasibility for Mac Pro / desktop lines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China share below 70% for iPhone assembly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TSMC Arizona ramp — 15–20% of Apple chip volume
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supply chain risk review formalized at board level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 by 2028: China share of iPhone assembly &lt;70% | Composite risk score reduced from 4.2 → 3.1 | Tariff exposure reduced by 25%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Implementation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749808"/>
            <a:ext cx="8686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'25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749808"/>
            <a:ext cx="86868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'25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749808"/>
            <a:ext cx="8686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'26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86868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749808"/>
            <a:ext cx="8686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'26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749808"/>
            <a:ext cx="86868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'26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749808"/>
            <a:ext cx="8686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'27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0" y="749808"/>
            <a:ext cx="86868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74980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" y="12527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Factory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1207008"/>
            <a:ext cx="7269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1298448"/>
            <a:ext cx="2670048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132588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prep + contracting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1298448"/>
            <a:ext cx="4498848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325880"/>
            <a:ext cx="4407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+ fit-out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440" y="191109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0" y="1865376"/>
            <a:ext cx="7269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1956816"/>
            <a:ext cx="175564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198424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ID + selection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1956816"/>
            <a:ext cx="449884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1984248"/>
            <a:ext cx="4407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qual testing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1440" y="256946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Assy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0" y="2523744"/>
            <a:ext cx="7269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2615184"/>
            <a:ext cx="3584448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264261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ramp 10% India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" y="322783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Arizona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0" y="3182112"/>
            <a:ext cx="7269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0" y="3273552"/>
            <a:ext cx="1755648" cy="3657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74520" y="330098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sheet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0" y="3273552"/>
            <a:ext cx="5413248" cy="3657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3300984"/>
            <a:ext cx="5321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+ capacity planning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1440" y="38862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28800" y="3840480"/>
            <a:ext cx="72694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0" y="3931920"/>
            <a:ext cx="841248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4520" y="395935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0" y="3931920"/>
            <a:ext cx="841248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395935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315200" y="3931920"/>
            <a:ext cx="841248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395935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959352" y="4352544"/>
            <a:ext cx="219456" cy="219456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45994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88152" y="4352544"/>
            <a:ext cx="219456" cy="219456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45994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531352" y="4352544"/>
            <a:ext cx="219456" cy="219456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75320" y="45994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Financial Model — Cost of Diversification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carries real near-term costs — but tariff savings and risk reduction justify the investment by Year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733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Capex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01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factory investment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32304" y="1188720"/>
            <a:ext cx="20116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32304" y="16733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Annual Cost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2304" y="1901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20% shift (Year 3)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90288" y="1188720"/>
            <a:ext cx="20116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~Yr 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16733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0288" y="1901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tariff escalation scenario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48272" y="1188720"/>
            <a:ext cx="20116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48272" y="16733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48272" y="1901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E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improvement</a:t>
            </a:r>
            <a:endParaRPr lang="en-US" sz="8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240280"/>
          <a:ext cx="8595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Risks &amp; Mitigations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16052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914400"/>
                <a:gridCol w="46634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quality ramp slower than 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China backup capacity; stage ramp tied to quality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truce makes diversification look expensive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as resilience investment; risk reduction has standalone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TSMC Arizona delayed beyond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 TSMC Japan capacity; explore Samsung foundry as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Foxconn India labor/operational issues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Dual-source with Tata Electronics; contractual penalties for shortfall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retaliatory trade measures vs. Apple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/ diplomatic monitoring; scenario plan with comms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overruns on supplier dev fund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Milestone-gated disbursements; quarterly operations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act is now.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 Apple delays diversification, the cost of the eventual transition increases — and the probability of a forced, crisis-driven move grows.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240280"/>
            <a:ext cx="841248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4231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 India investment ($2.1B) at the September board meeting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Supplier Development Fund and governance structure by Q4 2025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TSMC Arizona anchor capacity negotiations immediately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supply chain resilience strategy to investors at December earnings 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Strategy Group  |  Strictly Confidential  |  June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Supply Chain Diversification — Strategy Review 2025</dc:title>
  <dc:subject>PptxGenJS Presentation</dc:subject>
  <dc:creator>PptxGenJS</dc:creator>
  <cp:lastModifiedBy>PptxGenJS</cp:lastModifiedBy>
  <cp:revision>1</cp:revision>
  <dcterms:created xsi:type="dcterms:W3CDTF">2026-06-01T20:46:23Z</dcterms:created>
  <dcterms:modified xsi:type="dcterms:W3CDTF">2026-06-01T20:46:23Z</dcterms:modified>
</cp:coreProperties>
</file>